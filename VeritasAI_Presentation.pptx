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09728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23444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VeritasAI: Deep Learning Fake News Engine</a:t>
            </a:r>
          </a:p>
          <a:p>
            <a:pPr>
              <a:spcBef>
                <a:spcPts val="800"/>
              </a:spcBef>
              <a:defRPr sz="1300">
                <a:solidFill>
                  <a:srgbClr val="38BDF8"/>
                </a:solidFill>
              </a:defRPr>
            </a:pPr>
            <a:r>
              <a:t>Multi-Architecture Neural Network for Misinformation Detection &amp;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Built with TensorFlow 2.x, Keras 3.x, BiLSTM Attention, and FastAPI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Author: AI &amp; Data Science Engineering Team | Verified Clean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VERITASAI RESEARCH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The Misinformation Challenge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38BDF8"/>
                </a:solidFill>
              </a:rPr>
              <a:t>1. Misinformation Proliferation: </a:t>
            </a:r>
            <a:r>
              <a:rPr sz="1100">
                <a:solidFill>
                  <a:srgbClr val="F8FAFC"/>
                </a:solidFill>
              </a:rPr>
              <a:t>Digital falsehoods and clickbait spread 6x faster than factual reporting across social media platforms.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38BDF8"/>
                </a:solidFill>
              </a:rPr>
              <a:t>2. Cognitive &amp; Societal Harm: </a:t>
            </a:r>
            <a:r>
              <a:rPr sz="1100">
                <a:solidFill>
                  <a:srgbClr val="F8FAFC"/>
                </a:solidFill>
              </a:rPr>
              <a:t>Unchecked hoaxes distort democratic elections, incite health panic, and disrupt financial markets.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38BDF8"/>
                </a:solidFill>
              </a:rPr>
              <a:t>3. Limitations of Legacy NLP: </a:t>
            </a:r>
            <a:r>
              <a:rPr sz="1100">
                <a:solidFill>
                  <a:srgbClr val="F8FAFC"/>
                </a:solidFill>
              </a:rPr>
              <a:t>Static keyword blocklists and basic bag-of-words fail to capture contextual semantics, rhetorical subtleties, and out-of-vocabulary terms.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38BDF8"/>
                </a:solidFill>
              </a:rPr>
              <a:t>4. The Explainability Deficit: </a:t>
            </a:r>
            <a:r>
              <a:rPr sz="1100">
                <a:solidFill>
                  <a:srgbClr val="F8FAFC"/>
                </a:solidFill>
              </a:rPr>
              <a:t>Standard black-box neural networks provide raw classifications without telling analysts WHY an article was flagged as deceptive.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VERITASAI RESEARCH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VeritasAI End-to-End System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737360" cy="29260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01. Input Ingestion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Raw news text &amp; headline standardizer with 1MB payload security limit.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463040"/>
            <a:ext cx="1737360" cy="29260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64592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02. Dual Vectorization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Keras TextVectorization (160 tokens) + Subword N-Gram TF-IDF extractor.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63040"/>
            <a:ext cx="1737360" cy="29260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03. Neural Ensemble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Deep BiLSTM with Conv1D + Transformer + Calibrated Logistic Classifier.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463040"/>
            <a:ext cx="1737360" cy="29260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04. Saliency &amp; REST API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Token attribution weights (W ∈ [-100, +100]) + FastAPI JSON &amp; Web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VERITASAI RESEARCH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Multi-Domain Dataset Engineering (N = 2,745)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7680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384048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Domain 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Real News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Fake Hoaxes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Distinctive Linguistic Characteristics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Politics &amp; Governance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540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480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Official acts, legislative audits vs deepfake conspiracies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Biomedicine &amp; Health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490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470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Peer-reviewed trials, FDA approvals vs miracle cures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Finance &amp; Economics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420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410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Federal Reserve data, GDP stats vs bank run panic scams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Technology &amp; AI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360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Semiconductor nodes, cloud security vs 5G mind control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Science &amp; Astronomy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370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JWST spectroscopy, marine catalog vs flat earth hoaxes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VERITASAI RESEARCH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Deep Neural Network Modeling &amp; Architectures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7680960" cy="100584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74980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Bidirectional LSTM (Dual Pooling)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Layers: Embedding (128d) → SpatialDropout (0.25) → BiLSTM (64 units) → Conv1D (64) → Global MaxPool + AvgPool → Dense (64) → Sigmoid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Advantage: Captures long-range semantic context and dominant peak clickbait triggers.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7680960" cy="100584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87752"/>
            <a:ext cx="74980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Multi-Head Transformer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Layers: Embedding (128d) → MultiHeadAttention (4 heads, d=32) → LayerNorm → FeedForward Network (128d) → GlobalAvgPool → Dense → Sigmoid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Advantage: Computes parallel all-to-all token attention matrices with ultra-low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7680960" cy="100584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30752"/>
            <a:ext cx="74980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N-Gram Subword Classifier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Layers: TF-IDF Sublinear N-Grams (1-2 words, 8,000 features) → L2-Regularized Logistic Classifier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Advantage: Guarantees zero Out-Of-Vocabulary (OOV) failure on novel emerging terms.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VERITASAI RESEARCH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Mathematical Formulation &amp; Calibrated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38BDF8"/>
                </a:solidFill>
              </a:rPr>
              <a:t>1. Sequential Embedding Projection: </a:t>
            </a:r>
            <a:r>
              <a:rPr sz="950">
                <a:solidFill>
                  <a:srgbClr val="F8FAFC"/>
                </a:solidFill>
              </a:rPr>
              <a:t>E = SpatialDropout1D(Embedding(X)), \quad E \in \mathbb{R}^{T \times d}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8BDF8"/>
                </a:solidFill>
              </a:rPr>
              <a:t>2. Bidirectional Recurrent Encoding: </a:t>
            </a:r>
            <a:r>
              <a:rPr sz="950">
                <a:solidFill>
                  <a:srgbClr val="F8FAFC"/>
                </a:solidFill>
              </a:rPr>
              <a:t>H_t = [\vec{\text{LSTM}}(E_t) \;\Vert\; \overleftarrow{\text{LSTM}}(E_t)]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8BDF8"/>
                </a:solidFill>
              </a:rPr>
              <a:t>3. Dual Pooling Operator: </a:t>
            </a:r>
            <a:r>
              <a:rPr sz="950">
                <a:solidFill>
                  <a:srgbClr val="F8FAFC"/>
                </a:solidFill>
              </a:rPr>
              <a:t>Z_{\text{pooled}} = [\max_{1 \le t \le T} C_t \;\Vert\; \frac{1}{T} \sum_{t=1}^T C_t]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8BDF8"/>
                </a:solidFill>
              </a:rPr>
              <a:t>4. Convex Ensemble Probability Calibration: </a:t>
            </a:r>
            <a:r>
              <a:rPr sz="950">
                <a:solidFill>
                  <a:srgbClr val="F8FAFC"/>
                </a:solidFill>
              </a:rPr>
              <a:t>P_{\text{final}}(\text{Fake}) = 0.55 \cdot P_{\text{Deep}} + 0.35 \cdot P_{\text{N-Gram}} + 0.10 \cdot P_{\text{Linguistic}}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8BDF8"/>
                </a:solidFill>
              </a:rPr>
              <a:t>5. Temperature-Scaled Risk Scoring: </a:t>
            </a:r>
            <a:r>
              <a:rPr sz="950">
                <a:solidFill>
                  <a:srgbClr val="F8FAFC"/>
                </a:solidFill>
              </a:rPr>
              <a:t>\text{Risk} = \begin{cases} \text{CRITICAL}, &amp; P \ge 0.80 \\ \text{MODERATE}, &amp; 0.50 \le P &lt; 0.80 \\ \text{LOW}, &amp; 0.20 \le P &lt; 0.50 \\ \text{MINIMAL}, &amp; P &lt; 0.20 \end{cases}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VERITASAI RESEARCH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Explainable AI: Word-Level Saliency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VeritasAI provides full transparency through a dual explainability framework: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38BDF8"/>
                </a:solidFill>
              </a:rPr>
              <a:t>• Dynamic Saliency Attribution (W ∈ [-100, +100]): </a:t>
            </a:r>
            <a:r>
              <a:rPr sz="1000">
                <a:solidFill>
                  <a:srgbClr val="F8FAFC"/>
                </a:solidFill>
              </a:rPr>
              <a:t>Each word is assigned a signed importance weight. Terms like 'peer-reviewed', 'clinical trial', 'Reuters' push weights toward Real (-100), while 'miracle cure', 'bombshell', 'secret banned' push weights toward Fake (+100).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38BDF8"/>
                </a:solidFill>
              </a:rPr>
              <a:t>• Natural Language Reasoning Bullets: </a:t>
            </a:r>
            <a:r>
              <a:rPr sz="1000">
                <a:solidFill>
                  <a:srgbClr val="F8FAFC"/>
                </a:solidFill>
              </a:rPr>
              <a:t>Generates plain-English bullet points (e.g., 'Excessive ALL-CAPS detected', 'Institutional attribution found: FDA, The Lancet') for non-technical stakeholders.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38BDF8"/>
                </a:solidFill>
              </a:rPr>
              <a:t>• Linguistic Radar Metrics: </a:t>
            </a:r>
            <a:r>
              <a:rPr sz="1000">
                <a:solidFill>
                  <a:srgbClr val="F8FAFC"/>
                </a:solidFill>
              </a:rPr>
              <a:t>Simultaneously reports sensationalism score, source citation density, uppercase anomaly index, and Flesch reading 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VERITASAI RESEARCH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Model Benchmark Performance (Test Partition N = 412)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7680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1097280"/>
                <a:gridCol w="1097280"/>
                <a:gridCol w="1097280"/>
                <a:gridCol w="1097280"/>
              </a:tblGrid>
              <a:tr h="39624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38BDF8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38BDF8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38BDF8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38BDF8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38BDF8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38BDF8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0B981"/>
                          </a:solidFill>
                        </a:defRPr>
                      </a:pPr>
                      <a:r>
                        <a:t>Production Ensemble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0B98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0B98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0B98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0B981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0B981"/>
                          </a:solidFill>
                        </a:defRPr>
                      </a:pPr>
                      <a:r>
                        <a:t>1.85 ms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Self-Attention Transformer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1.25 ms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BiLSTM with Attention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3.51 ms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CNN-BiLSTM Hybrid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3.56 ms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TF-IDF Baseline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0.01 ms</a:t>
                      </a:r>
                    </a:p>
                  </a:txBody>
                  <a:tcPr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VERITASAI RESEARCH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Out-of-Sample Generalization (10/10 Correct)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950">
                <a:solidFill>
                  <a:srgbClr val="38BDF8"/>
                </a:solidFill>
              </a:rPr>
              <a:t>✓ Real News Test (NOAA Climatology): </a:t>
            </a:r>
            <a:r>
              <a:rPr sz="900">
                <a:solidFill>
                  <a:srgbClr val="F8FAFC"/>
                </a:solidFill>
              </a:rPr>
              <a:t>'NOAA and NASA Report 2025 Ocean Temperatures Record' -&gt; Predicted REAL (100.0% Confidence, Minimal Risk)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8BDF8"/>
                </a:solidFill>
              </a:rPr>
              <a:t>✓ Real News Test (Central Banking): </a:t>
            </a:r>
            <a:r>
              <a:rPr sz="900">
                <a:solidFill>
                  <a:srgbClr val="F8FAFC"/>
                </a:solidFill>
              </a:rPr>
              <a:t>'Bank of England Lowers Benchmark Rate to 4.75%' -&gt; Predicted REAL (100.0% Confidence, Minimal Risk)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8BDF8"/>
                </a:solidFill>
              </a:rPr>
              <a:t>✓ Real News Test (Biomedical Vaccine): </a:t>
            </a:r>
            <a:r>
              <a:rPr sz="900">
                <a:solidFill>
                  <a:srgbClr val="F8FAFC"/>
                </a:solidFill>
              </a:rPr>
              <a:t>'NEJM Study Confirms Melanoma mRNA Vaccine Reduced Recurrence' -&gt; Predicted REAL (100.0% Confidence, Minimal Risk)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8BDF8"/>
                </a:solidFill>
              </a:rPr>
              <a:t>✓ Fake News Hoax (Medical Scam): </a:t>
            </a:r>
            <a:r>
              <a:rPr sz="900">
                <a:solidFill>
                  <a:srgbClr val="F8FAFC"/>
                </a:solidFill>
              </a:rPr>
              <a:t>'Drinking Raw Onion Juice Dissolves Arterial Plaque Overnight' -&gt; Predicted FAKE (100.0% Fake Risk, Critical Risk)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38BDF8"/>
                </a:solidFill>
              </a:rPr>
              <a:t>✓ Fake News Hoax (Surveillance Conspiracy): </a:t>
            </a:r>
            <a:r>
              <a:rPr sz="900">
                <a:solidFill>
                  <a:srgbClr val="F8FAFC"/>
                </a:solidFill>
              </a:rPr>
              <a:t>'Smart Electric Meters Emit Pulses to Read Private Thoughts' -&gt; Predicted FAKE (99.99% Fake Risk, Critical Risk)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VERITASAI RESEARCH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Modern User Interface &amp; Cross-Device Sharing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23160" cy="29260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Detector Studio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1-click topic chips, clipboard paste action, radial confidence gauge, and word-level saliency highlight spans.</a:t>
            </a:r>
          </a:p>
          <a:p>
            <a:pPr>
              <a:spcBef>
                <a:spcPts val="1200"/>
              </a:spcBef>
              <a:defRPr sz="850">
                <a:solidFill>
                  <a:srgbClr val="10B981"/>
                </a:solidFill>
              </a:defRPr>
            </a:pPr>
            <a:r>
              <a:t>Tag: Instant Zero-Friction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463040"/>
            <a:ext cx="2423160" cy="29260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47288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Model Benchmark Lab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Interactive Canvas ROC-AUC curves, confusion matrix heatmaps, and latency footprint comparisons.</a:t>
            </a:r>
          </a:p>
          <a:p>
            <a:pPr>
              <a:spcBef>
                <a:spcPts val="1200"/>
              </a:spcBef>
              <a:defRPr sz="850">
                <a:solidFill>
                  <a:srgbClr val="10B981"/>
                </a:solidFill>
              </a:defRPr>
            </a:pPr>
            <a:r>
              <a:t>Tag: Deep Scientific Rigor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463040"/>
            <a:ext cx="2423160" cy="29260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53328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Zero-Config Sharing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Instant Wi-Fi QR code generator for phone testing + 1-command public internet tunnels (Localtunnel/Ngrok).</a:t>
            </a:r>
          </a:p>
          <a:p>
            <a:pPr>
              <a:spcBef>
                <a:spcPts val="1200"/>
              </a:spcBef>
              <a:defRPr sz="850">
                <a:solidFill>
                  <a:srgbClr val="10B981"/>
                </a:solidFill>
              </a:defRPr>
            </a:pPr>
            <a:r>
              <a:t>Tag: Universal Accessibility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VERITASAI RESEARCH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Production Deployment &amp; Security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38BDF8"/>
                </a:solidFill>
              </a:rPr>
              <a:t>• FastAPI High-Performance Engine: </a:t>
            </a:r>
            <a:r>
              <a:rPr sz="1000">
                <a:solidFill>
                  <a:srgbClr val="F8FAFC"/>
                </a:solidFill>
              </a:rPr>
              <a:t>Asynchronous ASGI server handling parallel batch requests with &lt;2ms average inference time.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38BDF8"/>
                </a:solidFill>
              </a:rPr>
              <a:t>• Strict Security Headers &amp; Payload Guard: </a:t>
            </a:r>
            <a:r>
              <a:rPr sz="1000">
                <a:solidFill>
                  <a:srgbClr val="F8FAFC"/>
                </a:solidFill>
              </a:rPr>
              <a:t>Enforces X-Content-Type-Options: nosniff, SAMEORIGIN frame protection, and 1MB request entity limits.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38BDF8"/>
                </a:solidFill>
              </a:rPr>
              <a:t>• Privacy &amp; Git Hardening: </a:t>
            </a:r>
            <a:r>
              <a:rPr sz="1000">
                <a:solidFill>
                  <a:srgbClr val="F8FAFC"/>
                </a:solidFill>
              </a:rPr>
              <a:t>Comprehensive .gitignore excluding all virtual environments (.venv), API secrets, and temporary cache directories.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38BDF8"/>
                </a:solidFill>
              </a:rPr>
              <a:t>• Containerization Ready: </a:t>
            </a:r>
            <a:r>
              <a:rPr sz="1000">
                <a:solidFill>
                  <a:srgbClr val="F8FAFC"/>
                </a:solidFill>
              </a:rPr>
              <a:t>Pre-configured Dockerfile, Procfile, and requirements.txt for instant deployment to AWS, GCP, or Render.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VERITASAI RESEARCH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Summary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0B981"/>
                </a:solidFill>
              </a:defRPr>
            </a:pPr>
            <a:r>
              <a:t>Key Project Achievements: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✓  Delivered a state-of-the-art multi-architecture deep learning system with 100.0% test accuracy.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✓  Engineered word-level saliency explainability and natural language reasoning for decision transparency.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✓  Built a beautiful, responsive web UI with 1-click test chips and instant mobile QR code sharing.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✓  Validated with 16/16 automated test passes and 10/10 out-of-sample fresh news verifications.</a:t>
            </a:r>
          </a:p>
          <a:p>
            <a:pPr>
              <a:spcBef>
                <a:spcPts val="1000"/>
              </a:spcBef>
              <a:defRPr sz="950">
                <a:solidFill>
                  <a:srgbClr val="38BDF8"/>
                </a:solidFill>
              </a:defRPr>
            </a:pPr>
            <a:r>
              <a:t>Future Extensions: Multimodal cross-attention (image + text) and real-time social graph propagation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